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77" r:id="rId4"/>
    <p:sldId id="260" r:id="rId5"/>
    <p:sldId id="261" r:id="rId6"/>
    <p:sldId id="279" r:id="rId7"/>
    <p:sldId id="264" r:id="rId8"/>
    <p:sldId id="265" r:id="rId9"/>
    <p:sldId id="267" r:id="rId10"/>
    <p:sldId id="278" r:id="rId11"/>
    <p:sldId id="280" r:id="rId12"/>
    <p:sldId id="266" r:id="rId13"/>
    <p:sldId id="282" r:id="rId14"/>
    <p:sldId id="275" r:id="rId15"/>
    <p:sldId id="281" r:id="rId16"/>
    <p:sldId id="283" r:id="rId17"/>
    <p:sldId id="25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2:12:42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1302 237 24575,'87'18'0,"103"7"0,-85-13 0,383 44 0,621-10 0,-1097-46 0,-4 0 0,-1 0 0,0 0 0,1-1 0,-1 0 0,12-3 0,-17 1 0,-9-1 0,-17-2 0,-326-25 0,194 20 0,-194-17-406,-572-36 170,669 51 236,-483-2 0,696 17 10,1-1 14,-1 1 0,1 3 1,-46 10-1,59-4 434,26-11-456,0 0 0,0 1 1,0-1-1,0 0 0,0 0 0,0 1 1,0-1-1,0 0 0,0 1 1,0-1-1,0 0 0,1 0 1,-1 1-1,0-1 0,0 0 0,0 0 1,0 0-1,0 1 0,1-1 1,-1 0-1,0 0 0,0 0 1,0 1-1,1-1 0,-1 0 0,0 0 1,0 0-1,1 0 0,-1 0 1,0 1-1,0-1 0,1 0 1,-1 0-1,0 0 0,0 0 0,1 0 1,-1 0-1,0 0 0,1 0 1,-1 0-1,0 0 0,0 0 1,1 0-1,-1 0 0,62 5-28,676-41-358,-518 17-431,882-53-1137,-82 7-150,-657 39 1549,-18 3 1668,-116 4 2520,-399 23-2522,34-2-1170,-2514 227-1340,2248-175 1393,-368 41-7,528-84 1174,707-9-945,-310 3-380,390 9-882,829 11-722,-4-82 1011,-882 12 579,-444 42-4081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12:12:59.7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5007 1202 24575,'858'-20'-1067,"-15"-59"-72,294-131 1139,-819 144 13,-144 33-13,-147 26 67,-27 7-63,0 0 1,1 0-1,-1 0 0,0 0 0,0 0 0,0 0 0,1 0 0,-1 0 0,0 0 0,0 0 0,0 0 0,0 0 0,1 0 0,-1-1 0,0 1 0,0 0 0,0 0 0,0 0 0,1 0 0,-1 0 1,0 0-1,0 0 0,0-1 0,0 1 0,0 0 0,0 0 0,1 0 0,-1 0 0,0-1 0,0 1 0,0 0 0,0 0 0,0 0 0,0 0 0,0-1 0,0 1 0,0 0 0,0 0 0,0 0 1,0 0-1,0-1 0,0 1 0,0 0 0,0 0 0,0 0 0,0-1 0,-4-1 80,-1 1 1,1-1-1,0 1 1,-1 0-1,1 0 1,0 0-1,-6 0 1,-279-31 804,30 3-519,-1392-116-3253,-6 104 0,1448 41 2817,-1084 16-1117,1077-3 2148,0 10-1,-356 86 1,548-103-310,-1 1 0,-31 14 1,55-21-633,0 1 1,0-1-1,0 1 1,0-1-1,0 0 1,0 1-1,0-1 1,0 1-1,0 0 1,0-1-1,1 1 1,-1 0-1,0 0 1,0-1-1,1 1 1,-1 0-1,0 0 1,1 0-1,-1 0 1,1 0-1,-1 0 1,1 0 0,-1 1-1,2-1 9,-1 0-1,0 0 1,1 0-1,-1 0 1,1 0-1,-1 0 0,1-1 1,-1 1-1,1 0 1,0 0-1,-1-1 1,1 1-1,0 0 1,0-1-1,-1 1 1,1 0-1,0-1 1,0 1-1,0-1 1,1 1-1,11 4 272,0 0 0,25 6 0,-30-9-282,1578 357-1591,29-159 0,-939-173 1488,1100-97 1,-912-27-222,-835 94 464,-22 4-66,-1-2 0,1 1 0,0-1 1,-1 0-1,1 0 0,0-1 0,-1 0 1,0 0-1,1-1 0,6-3 0,-14 1 347,-11 0 0,-19-3 93,-61-6 0,56 10-451,-843-94-662,641 73 211,-1078-99-1562,-7 53 552,-726 73-1793,1957 1 3199,-207 14 177,236-11 625,0 4-1,-99 28 0,132-27 153,30-11-965,-1 0 0,1 0 0,0 0 1,0 0-1,0 0 0,-1 0 0,1 0 0,0 0 0,0 0 0,0 0 0,-1 0 0,1 0 0,0 1 0,0-1 0,0 0 0,-1 0 0,1 0 0,0 0 0,0 0 1,0 0-1,0 0 0,-1 1 36,1-1-36,0 0 0,0 0 0,0 0 0,0 1 0,-1-1 0,1 0 0,0 0 0,0 0 0,0 0 0,0 1 0,0-1 1,0 0-1,0 0 0,0 0 0,0 1 0,0-1 0,0 0 0,0 0 0,0 0 0,0 1 0,0-1 0,0 0 0,0 0 0,0 0 0,0 1 0,0-1 0,0 0 0,1 0 1,-1 0-1,0 0 0,0 1 0,0-1 0,0 0 36,1 0-36,-1 0 0,0 1 0,0-1 0,0 0 0,0 0 0,1 0 0,-1 0 0,18 4 585,-15-4-486,204 30 1917,272 35-2126,1284 42-3604,5-159 1395,-1553 39 1666,452-41 2018,-651 52-938,0 0 1,0-1-1,30-13 997,-53 13-1025,-18-1 135,-283-2 833,151 6-1104,-489-10-600,-463-2-995,3 51 498,-510 152 816,1554-182-4,-212 36-26,207-30 87,1 2 1,-64 27-1,119-39 157,-1 0 0,0 0-1,-19 14 1,30-18-199,1-1 1,-1 0-1,1 1 0,-1-1 0,1 1 0,-1-1 1,1 0-1,0 1 0,-1-1 0,1 1 0,0-1 1,-1 1-1,1 0 0,0-1 0,-1 1 0,1-1 1,0 1-1,0-1 0,0 1 0,0 0 0,-1-1 1,1 1-1,0 0 0,0-1 0,0 1 0,0-1 1,1 1-1,-1 0 0,0-1 0,0 1 0,0 0 1,0-1-1,1 1 0,-1-1 0,0 1 0,0-1 0,1 1 1,-1-1-1,0 1 0,1-1 0,-1 1 0,1-1 1,-1 1-1,1-1 0,-1 1 0,1-1 0,-1 0 1,1 1-1,-1-1 0,1 0 0,-1 0 0,1 1 1,0-1-1,-1 0 0,2 0 0,38 16 590,95 17-605,153 17 0,-235-42 0,1658 148-2917,12-192-1,-840-42 2859,-12-45-1652,109-61 2543,-946 177-600,15-2 1044,72-24 1,-111 24-142,-29 2-304,-472-86 1120,301 63-2044,127 19-66,-1025-144-2334,494 111 1484,-877 47 1,519 58-541,4 31 3165,922-86 54,66-4-476,643 33 493,-424-16-2206,-67-6 413,1058 56-1844,0-86 476,-560-57 1395,-676 71 153,-1 2 12,-1-1 0,1 0 0,-1-1 0,0-1 1,0 0-1,0 0 0,12-8 0,-24 12-70,1 0 1,-1 0-1,1-1 0,-1 1 0,1 0 0,-1 0 1,0-1-1,1 1 0,-1 0 0,0-1 1,1 1-1,-1-1 0,0 1 0,1 0 1,-1-1-1,0 1 0,0-1 0,1 1 1,-1-1-1,0 1 0,0-1 0,0 1 1,0-1-1,0 1 0,0-1 0,1 1 1,-1-1-1,0 1 0,-1-1 0,1 1 1,0-1-1,0 1 0,0-1 0,0 1 1,0-1-1,0 1 0,-1-1 0,1 1 0,0-1 1,0 1-1,-1 0 0,1-1 0,0 1 1,-1-1-1,1 1 0,0 0 0,-1-1 1,1 1-1,0 0 0,-1-1 0,1 1 1,-1 0-1,-28-15 276,27 14-250,-44-15 668,-1 3 1,-77-14 0,67 16-548,-476-69-696,-9 28-228,486 47 751,-1196-56-1229,-1 60-624,835 3 1582,366-2 174,-631 26 976,663-24-691,-15 2 585,-34 8 0,60-10-519,0 0 1,-1 1-1,1 1 0,0-1 1,1 2-1,-1-1 0,1 1 0,-12 8 1,18-11-241,0 0 1,0 0-1,0 0 1,0 0-1,1 0 1,-1 1-1,1-1 1,-1 1-1,1-1 1,0 1-1,0-1 1,0 1-1,0-1 1,0 1-1,0 0 1,1 0-1,0-1 1,-1 1-1,1 0 1,0 0-1,0 0 1,1-1-1,-1 1 1,0 0-1,1 0 1,0-1 0,0 1-1,0 0 1,0-1-1,2 5 1,5 7-10,0 0 0,0-1 0,2 0 0,14 15 0,-13-15 2,91 106 3,213 192 0,-244-251 0,3-3 0,3-3 0,2-4 0,122 58 0,-130-79 0,2-3 0,1-4 0,1-2 0,0-4 0,1-3 0,120 5 0,-16-15 0,298-33 0,95-55 0,-407 49 0,227-80 0,-384 113 0,0-1 0,0 0 0,-1 0 0,1 0 0,-1-1 0,15-12 0,-21 16 0,-1-1 0,1 1 0,-1-1 0,1 0 0,-1 1 0,0-1 0,0 0 0,0 0 0,0 0 0,0 0 0,0 0 0,-1 0 0,1 0 0,-1 0 0,1 0 0,-1 0 0,0 0 0,0 0 0,1-1 0,-2 1 0,1 0 0,0 0 0,0 0 0,-1 0 0,1 0 0,-1 0 0,0 0 0,1 0 0,-1 0 0,0 0 0,0 0 0,0 0 0,-1 0 0,1 1 0,0-1 0,-3-2 0,-7-9 0,-1 1 0,0 0 0,-1 0 0,-1 1 0,1 1 0,-26-14 0,-99-45 0,122 61 0,-190-79-171,-4 9 0,-227-53 0,-446-57-343,694 156 460,-2 9 0,-354 1 0,429 26 27,1 6 0,0 5 0,1 5 0,1 5 0,-217 78 0,311-95 38,-31 11 252,0 2 0,1 3 0,-54 34-1,95-52-253,1 0-1,-1 1 0,1-1 0,0 1 0,1 1 0,-1-1 0,2 1 0,-1 0 0,1 1 0,0-1 0,-7 19 0,7-13 4,1 0 0,1 1-1,0-1 1,1 1 0,0 0 0,2 0-1,0 18 1,3 3 4,2 0 1,2 0-1,1-1 0,2 0 1,23 55-1,108 287-16,-128-346 0,0 0 0,2-1 0,1-1 0,1 0 0,2-1 0,1-1 0,1-1 0,1-1 0,44 39 0,-53-55 0,1 0 0,0-1 0,0 0 0,0-2 0,1 0 0,1 0 0,-1-1 0,0-1 0,1-1 0,0 0 0,0-1 0,23 0 0,14-2 0,-1-2 0,77-13 0,-64 3 0,103-32 0,61-38 0,-125 44 0,296-111-167,479-165-375,-672 246 542,643-178 0,-767 228 35,82-17 302,197-68 0,-333 94-337,-23 8 0,0 0 0,-1-1 0,1 1 0,-1-1 0,0-1 0,1 1 0,7-6 0,-13 7 0,0 1 0,1-1 0,-1 0 0,1 0 0,-1 0 0,0 0 0,0 0 0,1 1 0,-1-1 0,0 0 0,0 0 0,0 0 0,0 0 0,0 0 0,0 0 0,0 0 0,-1 0 0,1 0 0,0 1 0,0-1 0,-1 0 0,1 0 0,0 0 0,-1 0 0,1 1 0,-1-1 0,1 0 0,-1 0 0,0 1 0,1-1 0,-1 0 0,0 1 0,1-1 0,-2 0 0,-29-28 0,26 25 0,-62-50 0,-135-82 0,-89-24 0,219 122 0,-200-101-162,-467-165 0,522 233 53,-3 11 1,-414-60 0,490 105 108,1 5 0,-275 18 0,321 5 108,1 4 0,-133 41 1,-179 83 215,270-86-324,2 5 0,-138 85 0,205-101 0,1 2 0,3 3 0,-100 98 0,138-120 0,1 3 0,-33 47 0,47-54 0,0 1 0,2 0 0,-12 37 0,3-4 0,10-32 0,2 0 0,1 1 0,1 0 0,-3 52 0,9 111 0,1-96 0,-2-88 0,0 16 0,0-1 0,2 1 0,4 22 0,-4-36 0,0 0 0,0 0 0,1-1 0,0 1 0,0-1 0,0 1 0,1-1 0,0 0 0,0 0 0,0-1 0,1 1 0,0-1 0,6 5 0,16 11 0,1-2 0,1-1 0,1-1 0,1-1 0,0-2 0,0-1 0,1-1 0,1-2 0,67 11 0,5-6 0,203 0 0,353-49-198,-2-60-171,178-36-630,-56 10 261,1368-160-1446,-923 126 2195,-7-34-124,-1031 158 51,466-78-1299,629-92 2130,-493 131 3799,-620 60-4269,254-7 78,-310 18-377,-112-2 0,-1 0 0,0 0 0,0 0 0,0 0 0,1 0 0,-1 0 0,0 0 0,0 1 0,0-1 0,0 0 0,1 1 0,-1-1 0,0 1 0,0-1 0,0 1 0,0 0 0,0-1 0,0 1 0,0 0 0,0 0 0,-1 0 0,1 0 0,0 0 0,0 0 0,-1 0 0,1 0 0,0 0 0,-1 0 0,1 0 0,-1 0 0,0 0 0,1 0 0,-1 1 0,0-1 0,0 2 0,0-1 0,0 1 0,-1-1 0,0 0 0,1 0 0,-1 1 0,0-1 0,0 0 0,0 0 0,-1 0 0,1 0 0,0 0 0,-1 0 0,1 0 0,-1-1 0,0 1 0,1-1 0,-1 1 0,-4 2 0,-6 3 0,-1 0 0,0 0 0,0-1 0,-1-1 0,-19 6 0,-76 12 0,95-20 0,-1129 130-1109,135-82 1082,1-33 31,871-16-6,73-1 2,-49-1 0,-137 19 0,312-16 844,474-11-1264,-1-23 0,-3-23 0,833-194 0,-1360 247 420,200-57 0,-200 55-2,36-15-20,-40 17 28,-1 1 0,1-1-1,-1 0 1,1 0 0,-1 0-1,1 0 1,-1-1 0,0 1-1,0 0 1,0 0 0,0-1 0,0 1-1,0-1 1,0 1 0,0-1-1,0 1 1,-1-1 0,1 1 0,0-1-1,-1-1 1,0 1 11,0 1 1,0 0-1,0-1 1,-1 1-1,1 0 1,0-1-1,-1 1 1,1 0-1,-1 0 1,0-1-1,1 1 1,-1 0-1,0 0 1,0 0-1,0 0 1,0 0-1,0 0 1,0 0-1,0 0 1,0 1-1,0-1 1,0 0-1,-3-1 1,-36-13 207,-15 1 75,-1 4 0,-1 2 0,-99-2 0,114 8-271,-1153-9-1087,1178 11 1057,-376 12-959,-687 111 0,360 24-115,513-93 845,-279 113 0,473-163 373,1 2 1,0 0 0,-17 11 0,28-17-134,0 1 0,1-1 0,-1 0 0,0 1 0,0 0 0,0-1 0,0 1 0,1-1 0,-1 1 0,0 0 0,1-1 0,-1 1 0,1 0 0,-1 0 0,0 0 0,1 0 0,0-1 0,-1 1 0,1 0 0,0 0 1,-1 0-1,1 0 0,0 0 0,0 0 0,0 0 0,0 0 0,-1 0 0,2 0 0,-1 0 0,0 0 0,0 0 0,0 0 0,0 0 0,1 0 0,-1 0 0,0 0 0,1-1 0,-1 1 0,1 1 0,2 1 61,0 0-1,0-1 0,1 0 0,-1 1 1,0-1-1,1-1 0,-1 1 0,1 0 0,6 1 1,41 11 348,97 14 0,-93-20-387,2199 270-419,-991-201-1633,-3-99 728,-1235 20 1321,57-4 396,146-29 0,-226 35-372,1-1-1,-1 1 1,1-1-1,-1 0 1,1 1-1,-1-1 1,0 0-1,1 0 0,-1-1 1,0 1-1,0 0 1,0-1-1,0 1 1,0-1-1,0 0 1,0 0-1,2-2 1,-4 3-26,0 1 1,0-1 0,0 1 0,0-1 0,0 1-1,0-1 1,0 1 0,0-1 0,0 1 0,-1-1-1,1 1 1,0-1 0,0 1 0,0-1 0,-1 1-1,1-1 1,0 1 0,0-1 0,-1 1 0,1 0-1,0-1 1,-1 1 0,1 0 0,-1-1 0,1 1 0,0 0-1,-1-1 1,0 1 0,-29-12 652,-207-28 1358,120 24-1786,-1221-102-2554,-9 106 1870,-43 72-60,984-6 393,374-44 236,37-5 112,21-2 82,325 4-185,-217-8-60,1512-20-970,0-90 204,-1334 67 604,-306 43 141,-10 2 114,-23 3 406,-51 10 736,-262 45-180,-45 8-352,-1204 99-1728,1162-129 791,-207 39-1150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58919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7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62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jpe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93700" y="3233440"/>
            <a:ext cx="1162594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br>
              <a:rPr lang="en-IN" sz="32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3200" b="1" i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FINANCIAL DATA ANALYSIS</a:t>
            </a:r>
            <a:endParaRPr lang="en-US" sz="32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AED562-BEB1-7F80-5B5F-BD4550BB7555}"/>
                  </a:ext>
                </a:extLst>
              </p14:cNvPr>
              <p14:cNvContentPartPr/>
              <p14:nvPr/>
            </p14:nvContentPartPr>
            <p14:xfrm>
              <a:off x="4607192" y="3050030"/>
              <a:ext cx="1599480" cy="15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AED562-BEB1-7F80-5B5F-BD4550BB75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8552" y="3041390"/>
                <a:ext cx="16171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E075BB-A599-3F29-0D54-D7E1404B9827}"/>
                  </a:ext>
                </a:extLst>
              </p14:cNvPr>
              <p14:cNvContentPartPr/>
              <p14:nvPr/>
            </p14:nvContentPartPr>
            <p14:xfrm>
              <a:off x="3590552" y="2860670"/>
              <a:ext cx="4406040" cy="837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E075BB-A599-3F29-0D54-D7E1404B98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7912" y="2797670"/>
                <a:ext cx="4531680" cy="962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B086687-B881-0CA6-92E3-67ACB4D5E2EA}"/>
              </a:ext>
            </a:extLst>
          </p:cNvPr>
          <p:cNvSpPr txBox="1"/>
          <p:nvPr/>
        </p:nvSpPr>
        <p:spPr>
          <a:xfrm>
            <a:off x="7781730" y="4527015"/>
            <a:ext cx="42198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 Manideep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 456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Innomatics Research Labs, Dilsukhnagar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4C1B86-006C-3E51-5B51-9F604DF15AD8}"/>
              </a:ext>
            </a:extLst>
          </p:cNvPr>
          <p:cNvSpPr/>
          <p:nvPr/>
        </p:nvSpPr>
        <p:spPr>
          <a:xfrm>
            <a:off x="4337178" y="2859590"/>
            <a:ext cx="3517641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 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E71EDC-D324-8AF3-9F8C-8CFD0160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653D6-DAFF-C28C-C9C6-BBEA1F6F5056}"/>
              </a:ext>
            </a:extLst>
          </p:cNvPr>
          <p:cNvSpPr txBox="1"/>
          <p:nvPr/>
        </p:nvSpPr>
        <p:spPr>
          <a:xfrm>
            <a:off x="838200" y="1884784"/>
            <a:ext cx="57025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Statement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 &amp;Growth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E8BAC-2EDA-F349-9142-CA29C67284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6210210" y="130628"/>
            <a:ext cx="5541995" cy="58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3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CBE601-D129-1B2B-5F68-1F7F53BB5C75}"/>
              </a:ext>
            </a:extLst>
          </p:cNvPr>
          <p:cNvSpPr txBox="1"/>
          <p:nvPr/>
        </p:nvSpPr>
        <p:spPr>
          <a:xfrm>
            <a:off x="506877" y="378453"/>
            <a:ext cx="6652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 Problem</a:t>
            </a:r>
          </a:p>
          <a:p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894003-1DB3-7B9C-BD26-05C02593A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877" y="1150912"/>
            <a:ext cx="1117824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from income statements, balance sheets, and cash flow statements exists across multiple companies and time periods, making it difficult to gain a quick and unified understanding of financial performance.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Decision-makers struggle to compare revenue growth, profitability, liquidity, and financial risk without a centralized, visual, and interactive analysis.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lack of clear insights makes it challenging to identify top-performing companies, detect declining financial health, and support timely,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63048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3E3F-5E08-8ED8-F46B-FE277C0B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0736"/>
            <a:ext cx="10515600" cy="85718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D2CBC4-13B1-39A2-67FB-3DA49FE53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75" y="1499371"/>
            <a:ext cx="10700425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company’s overall financial condition using Income Statement, Balance Sheet, and Cash Flow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profitability, expenses, assets, liabilities, and cash movements to identify strengths and weaknesses.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Examine financial trends and key performance indicators to understand stability and growth.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decision-making by providing a clear view of current performance and future financial direction.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28F59-9A31-AE2B-0B75-315343BF66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466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B81A-7C2B-6D20-9F31-BB6EC24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4C9F7A8-4A01-0A47-B05C-DE4E1063A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49422"/>
            <a:ext cx="9321137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company’s financial condition by analyzing profits, cash flow, and debt levels.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driving financial changes and highlight potential financial risks.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effective planning and informed decision-making for the company’s future.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70181-E57A-F96A-CEBE-F17E793BE2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5314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90A4-7365-6304-532F-47B895D3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223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Galaxy Schema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4CA8F-6B7B-B474-7D9A-FC6490B5A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733" y="1100769"/>
            <a:ext cx="7803157" cy="293766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Galaxy Schema uses multiple fact tables connected to shared dimension tables.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 different business processes share common dimensions such as date or company.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schema supports complex reporting by improving flexibility and performance for large financial datasets.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48DA2-83FD-7667-E2C0-373978D14A8E}"/>
              </a:ext>
            </a:extLst>
          </p:cNvPr>
          <p:cNvSpPr txBox="1"/>
          <p:nvPr/>
        </p:nvSpPr>
        <p:spPr>
          <a:xfrm>
            <a:off x="838200" y="4128667"/>
            <a:ext cx="6671373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(1:*) — Most Common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table has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(Dimension table).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has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(Fact table).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Table (1)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Table (*)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A3C66C-A67B-15D3-EEED-318E0324C7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8049210" y="2845837"/>
            <a:ext cx="4077476" cy="382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5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011F004-6143-C8F6-8D0D-495B2A0D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913"/>
          </a:xfrm>
        </p:spPr>
        <p:txBody>
          <a:bodyPr>
            <a:normAutofit fontScale="90000"/>
          </a:bodyPr>
          <a:lstStyle/>
          <a:p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2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E73586-8977-76E3-FCAF-722129033671}"/>
              </a:ext>
            </a:extLst>
          </p:cNvPr>
          <p:cNvSpPr txBox="1"/>
          <p:nvPr/>
        </p:nvSpPr>
        <p:spPr>
          <a:xfrm>
            <a:off x="972715" y="-45007"/>
            <a:ext cx="10246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D765F-57D5-8565-2088-41D440C2A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46086"/>
            <a:ext cx="10515601" cy="49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4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BA4C81-CD86-374D-7885-5C713710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9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AAEC9F-2FF2-F827-92EB-8A686B4D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0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3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EFE0DB-F8E5-0F63-285D-AD1688ED5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333"/>
            <a:ext cx="12192000" cy="625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9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9BE9-11E1-BCA8-0B26-F097B36C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0A1A13-99D9-8738-CE8B-D3C1D0D3C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17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95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8B09A-E0E1-1D61-6BB6-B149E6839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47"/>
            <a:ext cx="12192000" cy="618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4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5142-B6F3-8C64-A433-66360AD9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1064-E1FA-ED3E-F22B-FA6311B2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49" y="665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 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C0C64F4-1EB6-7BB8-BA32-38BCFD393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9" y="1105335"/>
            <a:ext cx="5124061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Analysis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operating cash flow indicates healthy liquidity and sustainable operations.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Negative free cash flow highlights potential financial risk due to high spending or weak cash generation.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12E42-2C0A-78B6-2F98-064A768CD8B3}"/>
              </a:ext>
            </a:extLst>
          </p:cNvPr>
          <p:cNvSpPr/>
          <p:nvPr/>
        </p:nvSpPr>
        <p:spPr>
          <a:xfrm>
            <a:off x="6534244" y="893434"/>
            <a:ext cx="5315636" cy="25355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 Analysis </a:t>
            </a:r>
            <a:endParaRPr lang="en-US" sz="1800" b="1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 growth compared with liabilities highlights overall financial strength and stability.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debt or high debt-to-equity ratios indicate increased financial risk and leverage pressure.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44230-7407-07BC-5977-540EFDC7D0FD}"/>
              </a:ext>
            </a:extLst>
          </p:cNvPr>
          <p:cNvSpPr/>
          <p:nvPr/>
        </p:nvSpPr>
        <p:spPr>
          <a:xfrm>
            <a:off x="3072584" y="3846518"/>
            <a:ext cx="5315636" cy="2118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 Analysis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 does not always translate into higher profits due to rising costs and expenses.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Companies with stable operating income show stronger profitability and better cost control.</a:t>
            </a:r>
          </a:p>
          <a:p>
            <a:pPr algn="ctr"/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627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F249-1140-59E6-EAD5-7137D23C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7076D-0DEC-912C-F9ED-230504026F32}"/>
              </a:ext>
            </a:extLst>
          </p:cNvPr>
          <p:cNvSpPr txBox="1"/>
          <p:nvPr/>
        </p:nvSpPr>
        <p:spPr>
          <a:xfrm>
            <a:off x="922867" y="1690688"/>
            <a:ext cx="109220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shows mixed financial performance, with some stocks having strong revenue growth while others face declining income and increasing liabilities.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trends indicate high capital spending and unstable operating cash flow for many firms, affecting long-term stability.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assets generally grew across years, but liabilities also increased, reducing the overall financial cushion.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473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F575-2282-9471-65BB-E87CB050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291F-9A13-B3AD-ABCD-E7D71DB9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EFC5E3-8F34-54BD-A138-AF3D2FEB5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79" y="1690688"/>
            <a:ext cx="9834465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operating efficiency to strengthen cash flow.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capital spending to avoid cash pressure.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a healthy debt-to-equity balance.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Diversify revenue to reduce risk.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financial KPIs regularly for early risk detection.</a:t>
            </a:r>
          </a:p>
        </p:txBody>
      </p:sp>
    </p:spTree>
    <p:extLst>
      <p:ext uri="{BB962C8B-B14F-4D97-AF65-F5344CB8AC3E}">
        <p14:creationId xmlns:p14="http://schemas.microsoft.com/office/powerpoint/2010/main" val="3207741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A137C-1BBF-782A-C6F5-F0B27FE9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596C1E-FDA2-3C2C-8844-F107B825C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7" y="0"/>
            <a:ext cx="11952515" cy="62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61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9B277C-95AA-F8D2-65B1-F11474FDC2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519</Words>
  <Application>Microsoft Office PowerPoint</Application>
  <PresentationFormat>Widescreen</PresentationFormat>
  <Paragraphs>57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Calibri</vt:lpstr>
      <vt:lpstr>Arial</vt:lpstr>
      <vt:lpstr>Wingdings</vt:lpstr>
      <vt:lpstr>Office Theme</vt:lpstr>
      <vt:lpstr>PowerPoint Presentation</vt:lpstr>
      <vt:lpstr>AGENDA:</vt:lpstr>
      <vt:lpstr>PowerPoint Presentation</vt:lpstr>
      <vt:lpstr>Introduction: </vt:lpstr>
      <vt:lpstr>Objective:</vt:lpstr>
      <vt:lpstr>Galaxy Schema Description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 :</vt:lpstr>
      <vt:lpstr>Conclusion:</vt:lpstr>
      <vt:lpstr>Recommendations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 manideep</cp:lastModifiedBy>
  <cp:revision>37</cp:revision>
  <dcterms:created xsi:type="dcterms:W3CDTF">2021-02-16T05:19:01Z</dcterms:created>
  <dcterms:modified xsi:type="dcterms:W3CDTF">2026-01-06T03:08:37Z</dcterms:modified>
</cp:coreProperties>
</file>